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0"/>
  </p:notesMasterIdLst>
  <p:sldIdLst>
    <p:sldId id="256" r:id="rId2"/>
    <p:sldId id="511" r:id="rId3"/>
    <p:sldId id="503" r:id="rId4"/>
    <p:sldId id="445" r:id="rId5"/>
    <p:sldId id="507" r:id="rId6"/>
    <p:sldId id="508" r:id="rId7"/>
    <p:sldId id="509" r:id="rId8"/>
    <p:sldId id="510" r:id="rId9"/>
    <p:sldId id="458" r:id="rId10"/>
    <p:sldId id="462" r:id="rId11"/>
    <p:sldId id="464" r:id="rId12"/>
    <p:sldId id="481" r:id="rId13"/>
    <p:sldId id="399" r:id="rId14"/>
    <p:sldId id="482" r:id="rId15"/>
    <p:sldId id="434" r:id="rId16"/>
    <p:sldId id="479" r:id="rId17"/>
    <p:sldId id="478" r:id="rId18"/>
    <p:sldId id="485" r:id="rId19"/>
    <p:sldId id="480" r:id="rId20"/>
    <p:sldId id="483" r:id="rId21"/>
    <p:sldId id="474" r:id="rId22"/>
    <p:sldId id="484" r:id="rId23"/>
    <p:sldId id="476" r:id="rId24"/>
    <p:sldId id="486" r:id="rId25"/>
    <p:sldId id="487" r:id="rId26"/>
    <p:sldId id="488" r:id="rId27"/>
    <p:sldId id="500" r:id="rId28"/>
    <p:sldId id="501" r:id="rId29"/>
    <p:sldId id="502" r:id="rId30"/>
    <p:sldId id="499" r:id="rId31"/>
    <p:sldId id="506" r:id="rId32"/>
    <p:sldId id="493" r:id="rId33"/>
    <p:sldId id="494" r:id="rId34"/>
    <p:sldId id="495" r:id="rId35"/>
    <p:sldId id="505" r:id="rId36"/>
    <p:sldId id="496" r:id="rId37"/>
    <p:sldId id="497" r:id="rId38"/>
    <p:sldId id="504" r:id="rId39"/>
  </p:sldIdLst>
  <p:sldSz cx="9144000" cy="6858000" type="screen4x3"/>
  <p:notesSz cx="6797675" cy="9928225"/>
  <p:defaultTextStyle>
    <a:defPPr>
      <a:defRPr lang="en-AU"/>
    </a:defPPr>
    <a:lvl1pPr algn="l" rtl="0" fontAlgn="b">
      <a:spcBef>
        <a:spcPct val="0"/>
      </a:spcBef>
      <a:spcAft>
        <a:spcPct val="0"/>
      </a:spcAft>
      <a:defRPr sz="1000" kern="1200">
        <a:solidFill>
          <a:schemeClr val="bg1"/>
        </a:solidFill>
        <a:latin typeface="Arial" charset="0"/>
        <a:ea typeface="+mn-ea"/>
        <a:cs typeface="Arial" charset="0"/>
      </a:defRPr>
    </a:lvl1pPr>
    <a:lvl2pPr marL="457200" algn="l" rtl="0" fontAlgn="b">
      <a:spcBef>
        <a:spcPct val="0"/>
      </a:spcBef>
      <a:spcAft>
        <a:spcPct val="0"/>
      </a:spcAft>
      <a:defRPr sz="1000" kern="1200">
        <a:solidFill>
          <a:schemeClr val="bg1"/>
        </a:solidFill>
        <a:latin typeface="Arial" charset="0"/>
        <a:ea typeface="+mn-ea"/>
        <a:cs typeface="Arial" charset="0"/>
      </a:defRPr>
    </a:lvl2pPr>
    <a:lvl3pPr marL="914400" algn="l" rtl="0" fontAlgn="b">
      <a:spcBef>
        <a:spcPct val="0"/>
      </a:spcBef>
      <a:spcAft>
        <a:spcPct val="0"/>
      </a:spcAft>
      <a:defRPr sz="1000" kern="1200">
        <a:solidFill>
          <a:schemeClr val="bg1"/>
        </a:solidFill>
        <a:latin typeface="Arial" charset="0"/>
        <a:ea typeface="+mn-ea"/>
        <a:cs typeface="Arial" charset="0"/>
      </a:defRPr>
    </a:lvl3pPr>
    <a:lvl4pPr marL="1371600" algn="l" rtl="0" fontAlgn="b">
      <a:spcBef>
        <a:spcPct val="0"/>
      </a:spcBef>
      <a:spcAft>
        <a:spcPct val="0"/>
      </a:spcAft>
      <a:defRPr sz="1000" kern="1200">
        <a:solidFill>
          <a:schemeClr val="bg1"/>
        </a:solidFill>
        <a:latin typeface="Arial" charset="0"/>
        <a:ea typeface="+mn-ea"/>
        <a:cs typeface="Arial" charset="0"/>
      </a:defRPr>
    </a:lvl4pPr>
    <a:lvl5pPr marL="1828800" algn="l" rtl="0" fontAlgn="b">
      <a:spcBef>
        <a:spcPct val="0"/>
      </a:spcBef>
      <a:spcAft>
        <a:spcPct val="0"/>
      </a:spcAft>
      <a:defRPr sz="1000" kern="1200">
        <a:solidFill>
          <a:schemeClr val="bg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000" kern="1200">
        <a:solidFill>
          <a:schemeClr val="bg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000" kern="1200">
        <a:solidFill>
          <a:schemeClr val="bg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000" kern="1200">
        <a:solidFill>
          <a:schemeClr val="bg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000" kern="1200">
        <a:solidFill>
          <a:schemeClr val="bg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B4423E57-57E7-4C04-A931-703D0C468C67}">
          <p14:sldIdLst>
            <p14:sldId id="256"/>
            <p14:sldId id="511"/>
            <p14:sldId id="503"/>
            <p14:sldId id="445"/>
            <p14:sldId id="507"/>
            <p14:sldId id="508"/>
            <p14:sldId id="509"/>
            <p14:sldId id="510"/>
            <p14:sldId id="458"/>
            <p14:sldId id="462"/>
            <p14:sldId id="464"/>
            <p14:sldId id="481"/>
            <p14:sldId id="399"/>
            <p14:sldId id="482"/>
          </p14:sldIdLst>
        </p14:section>
        <p14:section name="Untitled Section" id="{DC036A59-7444-4A8C-9B36-543C552E758B}">
          <p14:sldIdLst>
            <p14:sldId id="434"/>
            <p14:sldId id="479"/>
            <p14:sldId id="478"/>
            <p14:sldId id="485"/>
            <p14:sldId id="480"/>
            <p14:sldId id="483"/>
            <p14:sldId id="474"/>
            <p14:sldId id="484"/>
            <p14:sldId id="476"/>
            <p14:sldId id="486"/>
            <p14:sldId id="487"/>
            <p14:sldId id="488"/>
            <p14:sldId id="500"/>
            <p14:sldId id="501"/>
            <p14:sldId id="502"/>
            <p14:sldId id="499"/>
            <p14:sldId id="506"/>
            <p14:sldId id="493"/>
            <p14:sldId id="494"/>
            <p14:sldId id="495"/>
            <p14:sldId id="505"/>
            <p14:sldId id="496"/>
            <p14:sldId id="497"/>
            <p14:sldId id="5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reza Sadri" initials="AS" lastIdx="14" clrIdx="0">
    <p:extLst>
      <p:ext uri="{19B8F6BF-5375-455C-9EA6-DF929625EA0E}">
        <p15:presenceInfo xmlns:p15="http://schemas.microsoft.com/office/powerpoint/2012/main" userId="S-1-5-21-1014577243-1730996482-2094860330-451057" providerId="AD"/>
      </p:ext>
    </p:extLst>
  </p:cmAuthor>
  <p:cmAuthor id="2" name="Gelayol Golkar" initials="GG" lastIdx="1" clrIdx="1">
    <p:extLst>
      <p:ext uri="{19B8F6BF-5375-455C-9EA6-DF929625EA0E}">
        <p15:presenceInfo xmlns:p15="http://schemas.microsoft.com/office/powerpoint/2012/main" userId="a51e69b2cee7d2b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3366"/>
    <a:srgbClr val="FFFFFF"/>
    <a:srgbClr val="EE3224"/>
    <a:srgbClr val="887E6E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85759" autoAdjust="0"/>
  </p:normalViewPr>
  <p:slideViewPr>
    <p:cSldViewPr>
      <p:cViewPr varScale="1">
        <p:scale>
          <a:sx n="109" d="100"/>
          <a:sy n="109" d="100"/>
        </p:scale>
        <p:origin x="172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fontAlgn="base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base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99A5A18-0BAC-4C0C-AC6D-5824816E401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92017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2625" y="1557338"/>
            <a:ext cx="6553200" cy="129540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/>
              <a:t>Click to edit Master title style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2625" y="3357563"/>
            <a:ext cx="5859463" cy="503237"/>
          </a:xfrm>
        </p:spPr>
        <p:txBody>
          <a:bodyPr/>
          <a:lstStyle>
            <a:lvl1pPr marL="0" indent="0">
              <a:buFontTx/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361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FF66D-77F0-482A-A838-7B366726A3C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12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1CDFC-7AA9-4159-905D-7FA36F6DC58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06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00163"/>
            <a:ext cx="4038600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300163"/>
            <a:ext cx="4038600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2C8A0-830B-41F9-A634-984574595F6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318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8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9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3FF3A-88EE-400B-87CC-10C8B6EBE8F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3811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EF40C-47DD-4A46-A8D3-F794CEC22FF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2872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159E1-CE05-40C3-A3ED-7C59D2B71AD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64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9D6C5-3C89-4992-80C7-A642935809E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278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5CB546-3E0A-4086-90B1-40841A0E151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961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9750A-B4CC-45B2-AE4A-E6E4AA6B3E4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437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638"/>
            <a:ext cx="2057400" cy="58912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74638"/>
            <a:ext cx="6019800" cy="58912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44E10-110C-40B3-95E8-71DD89C5066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4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1" descr="core foote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34150"/>
            <a:ext cx="9144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74638"/>
            <a:ext cx="8229600" cy="9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Header 1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00163"/>
            <a:ext cx="8229600" cy="486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44500" y="6565900"/>
            <a:ext cx="21336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defRPr sz="1100"/>
            </a:lvl1pPr>
          </a:lstStyle>
          <a:p>
            <a:pPr>
              <a:defRPr/>
            </a:pPr>
            <a:r>
              <a:rPr lang="en-AU"/>
              <a:t>RMIT University©2015</a:t>
            </a:r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11438" y="6575425"/>
            <a:ext cx="383222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base">
              <a:defRPr sz="900"/>
            </a:lvl1pPr>
          </a:lstStyle>
          <a:p>
            <a:pPr>
              <a:defRPr/>
            </a:pPr>
            <a:r>
              <a:rPr lang="en-AU"/>
              <a:t>School of Aerospace, Mechanical and Manufacturing Engineering</a:t>
            </a:r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23038" y="6578600"/>
            <a:ext cx="21336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defRPr sz="1100"/>
            </a:lvl1pPr>
          </a:lstStyle>
          <a:p>
            <a:pPr>
              <a:defRPr/>
            </a:pPr>
            <a:fld id="{3A8BC337-375C-4227-AFC2-8618D425247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500">
          <a:solidFill>
            <a:srgbClr val="EE3224"/>
          </a:solidFill>
          <a:latin typeface="Arial" charset="0"/>
          <a:cs typeface="Arial" charset="0"/>
        </a:defRPr>
      </a:lvl9pPr>
    </p:titleStyle>
    <p:bodyStyle>
      <a:lvl1pPr marL="180975" indent="-180975" algn="l" rtl="0" eaLnBrk="0" fontAlgn="base" hangingPunct="0">
        <a:spcBef>
          <a:spcPct val="50000"/>
        </a:spcBef>
        <a:spcAft>
          <a:spcPct val="0"/>
        </a:spcAft>
        <a:buClr>
          <a:srgbClr val="887E6E"/>
        </a:buClr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85775" indent="-161925" algn="l" rtl="0" eaLnBrk="0" fontAlgn="base" hangingPunct="0">
        <a:spcBef>
          <a:spcPct val="25000"/>
        </a:spcBef>
        <a:spcAft>
          <a:spcPct val="0"/>
        </a:spcAft>
        <a:buClr>
          <a:srgbClr val="887E6E"/>
        </a:buClr>
        <a:buFont typeface="Arial" charset="0"/>
        <a:buChar char="–"/>
        <a:defRPr>
          <a:solidFill>
            <a:schemeClr val="tx1"/>
          </a:solidFill>
          <a:latin typeface="+mn-lt"/>
          <a:cs typeface="+mn-cs"/>
        </a:defRPr>
      </a:lvl2pPr>
      <a:lvl3pPr marL="795338" indent="-161925" algn="l" rtl="0" eaLnBrk="0" fontAlgn="base" hangingPunct="0">
        <a:spcBef>
          <a:spcPct val="25000"/>
        </a:spcBef>
        <a:spcAft>
          <a:spcPct val="0"/>
        </a:spcAft>
        <a:buClr>
          <a:srgbClr val="887E6E"/>
        </a:buClr>
        <a:buFont typeface="Arial" charset="0"/>
        <a:buChar char="–"/>
        <a:defRPr>
          <a:solidFill>
            <a:schemeClr val="tx1"/>
          </a:solidFill>
          <a:latin typeface="+mn-lt"/>
          <a:cs typeface="+mn-cs"/>
        </a:defRPr>
      </a:lvl3pPr>
      <a:lvl4pPr marL="1090613" indent="-166688" algn="l" rtl="0" eaLnBrk="0" fontAlgn="base" hangingPunct="0">
        <a:spcBef>
          <a:spcPct val="25000"/>
        </a:spcBef>
        <a:spcAft>
          <a:spcPct val="0"/>
        </a:spcAft>
        <a:buClr>
          <a:srgbClr val="887E6E"/>
        </a:buClr>
        <a:buChar char="–"/>
        <a:defRPr>
          <a:solidFill>
            <a:schemeClr val="tx1"/>
          </a:solidFill>
          <a:latin typeface="+mn-lt"/>
          <a:cs typeface="+mn-cs"/>
        </a:defRPr>
      </a:lvl4pPr>
      <a:lvl5pPr marL="1390650" indent="-171450" algn="l" rtl="0" eaLnBrk="0" fontAlgn="base" hangingPunct="0">
        <a:spcBef>
          <a:spcPct val="25000"/>
        </a:spcBef>
        <a:spcAft>
          <a:spcPct val="0"/>
        </a:spcAft>
        <a:buClr>
          <a:srgbClr val="887E6E"/>
        </a:buClr>
        <a:buFont typeface="Arial" charset="0"/>
        <a:buChar char="–"/>
        <a:defRPr>
          <a:solidFill>
            <a:schemeClr val="tx1"/>
          </a:solidFill>
          <a:latin typeface="+mn-lt"/>
          <a:cs typeface="+mn-cs"/>
        </a:defRPr>
      </a:lvl5pPr>
      <a:lvl6pPr marL="1847850" indent="-171450" algn="l" rtl="0" fontAlgn="base">
        <a:spcBef>
          <a:spcPct val="25000"/>
        </a:spcBef>
        <a:spcAft>
          <a:spcPct val="0"/>
        </a:spcAft>
        <a:buClr>
          <a:srgbClr val="887E6E"/>
        </a:buClr>
        <a:buFont typeface="Arial" charset="0"/>
        <a:buChar char="–"/>
        <a:defRPr>
          <a:solidFill>
            <a:schemeClr val="tx1"/>
          </a:solidFill>
          <a:latin typeface="+mn-lt"/>
          <a:cs typeface="+mn-cs"/>
        </a:defRPr>
      </a:lvl6pPr>
      <a:lvl7pPr marL="2305050" indent="-171450" algn="l" rtl="0" fontAlgn="base">
        <a:spcBef>
          <a:spcPct val="25000"/>
        </a:spcBef>
        <a:spcAft>
          <a:spcPct val="0"/>
        </a:spcAft>
        <a:buClr>
          <a:srgbClr val="887E6E"/>
        </a:buClr>
        <a:buFont typeface="Arial" charset="0"/>
        <a:buChar char="–"/>
        <a:defRPr>
          <a:solidFill>
            <a:schemeClr val="tx1"/>
          </a:solidFill>
          <a:latin typeface="+mn-lt"/>
          <a:cs typeface="+mn-cs"/>
        </a:defRPr>
      </a:lvl7pPr>
      <a:lvl8pPr marL="2762250" indent="-171450" algn="l" rtl="0" fontAlgn="base">
        <a:spcBef>
          <a:spcPct val="25000"/>
        </a:spcBef>
        <a:spcAft>
          <a:spcPct val="0"/>
        </a:spcAft>
        <a:buClr>
          <a:srgbClr val="887E6E"/>
        </a:buClr>
        <a:buFont typeface="Arial" charset="0"/>
        <a:buChar char="–"/>
        <a:defRPr>
          <a:solidFill>
            <a:schemeClr val="tx1"/>
          </a:solidFill>
          <a:latin typeface="+mn-lt"/>
          <a:cs typeface="+mn-cs"/>
        </a:defRPr>
      </a:lvl8pPr>
      <a:lvl9pPr marL="3219450" indent="-171450" algn="l" rtl="0" fontAlgn="base">
        <a:spcBef>
          <a:spcPct val="25000"/>
        </a:spcBef>
        <a:spcAft>
          <a:spcPct val="0"/>
        </a:spcAft>
        <a:buClr>
          <a:srgbClr val="887E6E"/>
        </a:buClr>
        <a:buFont typeface="Arial" charset="0"/>
        <a:buChar char="–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aedsayad.com/support_vector_machine_reg.htm" TargetMode="External"/><Relationship Id="rId2" Type="http://schemas.openxmlformats.org/officeDocument/2006/relationships/hyperlink" Target="https://au.mathwork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5800" y="423949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751729"/>
            <a:ext cx="7851775" cy="2286000"/>
          </a:xfrm>
        </p:spPr>
        <p:txBody>
          <a:bodyPr/>
          <a:lstStyle/>
          <a:p>
            <a:pPr algn="ctr" eaLnBrk="1" hangingPunct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-2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(SVM)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3736293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indent="457200" fontAlgn="auto">
              <a:spcBef>
                <a:spcPts val="0"/>
              </a:spcBef>
              <a:spcAft>
                <a:spcPts val="0"/>
              </a:spcAft>
            </a:pPr>
            <a:r>
              <a:rPr lang="en-AU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Dr Hamid Khayyam (Australia)</a:t>
            </a:r>
          </a:p>
          <a:p>
            <a:pPr indent="457200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Email: hamid.khayyam@rmit.edu.au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112" y="75409"/>
            <a:ext cx="8229600" cy="487361"/>
          </a:xfrm>
        </p:spPr>
        <p:txBody>
          <a:bodyPr/>
          <a:lstStyle/>
          <a:p>
            <a:r>
              <a:rPr lang="en-A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aim of Machine learning methods (recap )</a:t>
            </a:r>
            <a:endParaRPr lang="en-A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739" y="859235"/>
            <a:ext cx="8229600" cy="5410200"/>
          </a:xfrm>
        </p:spPr>
        <p:txBody>
          <a:bodyPr/>
          <a:lstStyle/>
          <a:p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 relationship between some inputs and outputs from different engineering problems when the model is unknown (black box modelling).</a:t>
            </a:r>
          </a:p>
          <a:p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mathematical models of engineering systems from observed input–output data (system identification) regardless of what the inputs and outputs are and make predictions based on some unseen new inputs. </a:t>
            </a:r>
          </a:p>
          <a:p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AU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</a:rPr>
              <a:t>School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en-AU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91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759" y="134787"/>
            <a:ext cx="8229600" cy="689969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(Recap)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1118" y="936703"/>
            <a:ext cx="8229600" cy="5172266"/>
          </a:xfrm>
        </p:spPr>
        <p:txBody>
          <a:bodyPr/>
          <a:lstStyle/>
          <a:p>
            <a:pPr marL="0" indent="0">
              <a:buNone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26672"/>
            <a:ext cx="3924848" cy="378195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653" y="1626672"/>
            <a:ext cx="3953183" cy="37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19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821" y="123232"/>
            <a:ext cx="8229600" cy="639762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of An Application of SVM (Recap)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687" y="977900"/>
            <a:ext cx="8229600" cy="5499100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Tx/>
              <a:buAutoNum type="arabicPeriod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pre-processing (check for missing data ,standardization)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AutoNum type="arabicPeriod" startAt="2"/>
            </a:pPr>
            <a:r>
              <a:rPr lang="en-AU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development and training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AutoNum type="arabicPeriod" startAt="2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Mdl = fitcsvm( X, Y) (Classification)    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Mdl is the developed model</a:t>
            </a:r>
          </a:p>
          <a:p>
            <a:pPr marL="323850" lvl="1" indent="0">
              <a:spcBef>
                <a:spcPts val="1200"/>
              </a:spcBef>
              <a:buNone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Mdl = fitrsvm( X, Y) (Regression)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AU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(prediction )</a:t>
            </a:r>
          </a:p>
          <a:p>
            <a:pPr marL="32385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label= predict(</a:t>
            </a:r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Mdl,X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(classification )            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label : predicted labels</a:t>
            </a:r>
          </a:p>
          <a:p>
            <a:pPr marL="32385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Y_predicted=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predict(</a:t>
            </a: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Mdl,X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(Regression)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%Y_predicted is the predicted responses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Post-processing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MSE,RMSE,R  (Regression)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4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510375"/>
            <a:ext cx="2819400" cy="8191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4598462"/>
            <a:ext cx="3200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8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54" y="36407"/>
            <a:ext cx="6825624" cy="417090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(Recap)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5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112" y="890970"/>
            <a:ext cx="2247586" cy="87850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201" y="5233428"/>
            <a:ext cx="3744912" cy="14499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softEdge rad="304800"/>
          </a:effectLst>
        </p:spPr>
      </p:pic>
      <p:pic>
        <p:nvPicPr>
          <p:cNvPr id="26" name="Content Placeholder 2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2376" y="4396126"/>
            <a:ext cx="5743575" cy="2114550"/>
          </a:xfrm>
          <a:prstGeom prst="rect">
            <a:avLst/>
          </a:prstGeom>
        </p:spPr>
      </p:pic>
      <p:cxnSp>
        <p:nvCxnSpPr>
          <p:cNvPr id="31" name="Straight Arrow Connector 30"/>
          <p:cNvCxnSpPr/>
          <p:nvPr/>
        </p:nvCxnSpPr>
        <p:spPr bwMode="auto">
          <a:xfrm>
            <a:off x="5303535" y="1330225"/>
            <a:ext cx="990600" cy="1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Rectangle 36"/>
          <p:cNvSpPr/>
          <p:nvPr/>
        </p:nvSpPr>
        <p:spPr bwMode="auto">
          <a:xfrm>
            <a:off x="5797416" y="4981637"/>
            <a:ext cx="3422784" cy="1157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981" y="5650517"/>
            <a:ext cx="607767" cy="661922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351" y="552683"/>
            <a:ext cx="4019550" cy="352425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37554" y="4126657"/>
            <a:ext cx="72119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(solving ) hard-margin problem in </a:t>
            </a:r>
            <a:r>
              <a:rPr lang="en-AU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en-AU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0065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56" y="68821"/>
            <a:ext cx="8229600" cy="745846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(Recap)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70" y="609600"/>
            <a:ext cx="8547867" cy="5615266"/>
          </a:xfrm>
        </p:spPr>
        <p:txBody>
          <a:bodyPr/>
          <a:lstStyle/>
          <a:p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separable data (soft-margin )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6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840533"/>
            <a:ext cx="5143500" cy="1600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169" y="814667"/>
            <a:ext cx="4267200" cy="35337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048707" y="3581400"/>
            <a:ext cx="1782977" cy="335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24200" y="3578155"/>
            <a:ext cx="693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056" y="4457488"/>
            <a:ext cx="4977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Training(solving ) Soft-margin problem in </a:t>
            </a:r>
            <a:r>
              <a:rPr lang="en-AU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en-A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308376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020" y="479058"/>
            <a:ext cx="8229600" cy="4865687"/>
          </a:xfrm>
        </p:spPr>
        <p:txBody>
          <a:bodyPr/>
          <a:lstStyle/>
          <a:p>
            <a:pPr marL="0" lvl="0" indent="0" eaLnBrk="1" fontAlgn="b" hangingPunct="1">
              <a:spcBef>
                <a:spcPct val="0"/>
              </a:spcBef>
              <a:buClrTx/>
              <a:buNone/>
            </a:pPr>
            <a:r>
              <a:rPr lang="en-AU" kern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AU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(</a:t>
            </a:r>
            <a:r>
              <a:rPr lang="en-AU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lang="en-AU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multiplier) :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7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47" y="1042078"/>
            <a:ext cx="6334293" cy="7315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1747" y="179083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: the multiplier of the constraint.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1747" y="2509645"/>
            <a:ext cx="457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Primal problem of SVM method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15" y="3197679"/>
            <a:ext cx="4621169" cy="10668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5134869"/>
            <a:ext cx="6286500" cy="13621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5308" y="4614051"/>
            <a:ext cx="28900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problem of SVM method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" y="-2965"/>
            <a:ext cx="6794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Support vector Machine (SVM) (Recap)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679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038" y="723643"/>
            <a:ext cx="8229600" cy="51081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- Regression (SVR)</a:t>
            </a:r>
            <a:endParaRPr lang="en-A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FF66D-77F0-482A-A838-7B366726A3CF}" type="slidenum">
              <a:rPr kumimoji="0" lang="en-AU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925" y="1291474"/>
            <a:ext cx="4391025" cy="2781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509" y="3548632"/>
            <a:ext cx="4810125" cy="2924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981200" y="5181600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Soft-Margin </a:t>
            </a:r>
            <a:r>
              <a:rPr lang="en-AU" sz="1800" b="1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AU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olution</a:t>
            </a:r>
            <a:r>
              <a:rPr kumimoji="0" lang="en-AU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AU" sz="1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79282" y="1538355"/>
            <a:ext cx="2467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Hard-Margin </a:t>
            </a:r>
            <a:r>
              <a:rPr lang="en-AU" sz="1800" b="1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AU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olution</a:t>
            </a:r>
            <a:r>
              <a:rPr kumimoji="0" lang="en-AU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AU" sz="1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 flipV="1">
            <a:off x="4771872" y="2514600"/>
            <a:ext cx="1517607" cy="8356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523038" y="2298805"/>
                <a:ext cx="1927131" cy="414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" latinLnBrk="0" hangingPunct="1">
                  <a:lnSpc>
                    <a:spcPct val="107000"/>
                  </a:lnSpc>
                  <a:spcBef>
                    <a:spcPct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𝜀</m:t>
                    </m:r>
                  </m:oMath>
                </a14:m>
                <a:r>
                  <a:rPr kumimoji="0" lang="en-AU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: </a:t>
                </a:r>
                <a:r>
                  <a:rPr kumimoji="0" lang="en-AU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Margin of tolerance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038" y="2298805"/>
                <a:ext cx="1927131" cy="41402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459414" y="197852"/>
            <a:ext cx="754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0" cap="none" spc="0" normalizeH="0" baseline="0" noProof="0" dirty="0">
                <a:ln>
                  <a:noFill/>
                </a:ln>
                <a:solidFill>
                  <a:srgbClr val="EE322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Support vector Machine (SVM</a:t>
            </a:r>
            <a:r>
              <a:rPr kumimoji="0" lang="en-AU" sz="2400" b="1" i="0" u="none" strike="noStrike" kern="0" cap="none" spc="0" normalizeH="0" baseline="0" noProof="0">
                <a:ln>
                  <a:noFill/>
                </a:ln>
                <a:solidFill>
                  <a:srgbClr val="EE322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(Recap</a:t>
            </a:r>
            <a:r>
              <a:rPr kumimoji="0" lang="en-AU" sz="2400" b="1" i="0" u="none" strike="noStrike" kern="0" cap="none" spc="0" normalizeH="0" baseline="0" noProof="0" dirty="0">
                <a:ln>
                  <a:noFill/>
                </a:ln>
                <a:solidFill>
                  <a:srgbClr val="EE322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A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97975" y="5858361"/>
            <a:ext cx="15842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Linear SVR: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194" y="5710753"/>
            <a:ext cx="22193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35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21" y="4376594"/>
            <a:ext cx="3990975" cy="1581150"/>
          </a:xfrm>
          <a:prstGeom prst="rect">
            <a:avLst/>
          </a:prstGeom>
        </p:spPr>
      </p:pic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248813" y="457200"/>
            <a:ext cx="8966200" cy="6019800"/>
          </a:xfrm>
        </p:spPr>
        <p:txBody>
          <a:bodyPr/>
          <a:lstStyle/>
          <a:p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Trick (Nonlinear SVM)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112" y="928169"/>
            <a:ext cx="5476875" cy="2790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3947965"/>
            <a:ext cx="685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(solving )</a:t>
            </a:r>
            <a:r>
              <a:rPr lang="en-A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 with Kernel function in Matlab: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91" y="4327150"/>
            <a:ext cx="2543175" cy="61912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4927" y="4556745"/>
            <a:ext cx="1188823" cy="33530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248813" y="-4465"/>
            <a:ext cx="74040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Support vector Machine (SVM) (Nonlinear)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77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188" y="838200"/>
            <a:ext cx="8229600" cy="5334000"/>
          </a:xfrm>
        </p:spPr>
        <p:txBody>
          <a:bodyPr/>
          <a:lstStyle/>
          <a:p>
            <a:r>
              <a:rPr lang="en-A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functions</a:t>
            </a:r>
          </a:p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</a:p>
          <a:p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</a:p>
          <a:p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RBF(Radial basis function)</a:t>
            </a:r>
          </a:p>
          <a:p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233" y="1227564"/>
            <a:ext cx="2310430" cy="7254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552" y="2013084"/>
            <a:ext cx="3533775" cy="733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288" y="3067902"/>
            <a:ext cx="4381500" cy="9334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125" y="4581950"/>
            <a:ext cx="4514850" cy="5048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6306" y="65641"/>
            <a:ext cx="70672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(cont.)</a:t>
            </a:r>
            <a:endParaRPr lang="en-AU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57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603" y="838200"/>
            <a:ext cx="8229600" cy="4865687"/>
          </a:xfrm>
        </p:spPr>
        <p:txBody>
          <a:bodyPr/>
          <a:lstStyle/>
          <a:p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Nonlinear SVR</a:t>
            </a:r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035" y="2373189"/>
            <a:ext cx="5923030" cy="33306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6545" y="58825"/>
            <a:ext cx="662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(cont.)</a:t>
            </a:r>
            <a:endParaRPr lang="en-AU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153" y="1403252"/>
            <a:ext cx="2476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85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77" y="93926"/>
            <a:ext cx="8229600" cy="467786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model: fitcsvm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93368"/>
            <a:ext cx="8229600" cy="5126432"/>
          </a:xfrm>
        </p:spPr>
        <p:txBody>
          <a:bodyPr/>
          <a:lstStyle/>
          <a:p>
            <a:r>
              <a:rPr lang="en-AU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fitcsvm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23850" lvl="1" indent="0">
              <a:spcBef>
                <a:spcPts val="1200"/>
              </a:spcBef>
              <a:buNone/>
            </a:pP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Mdl = fitcsvm(x, t)    %</a:t>
            </a: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trains a two-class (binary) classification .</a:t>
            </a:r>
            <a:endParaRPr lang="en-A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Mdl=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fitcsvm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lvl="0"/>
            <a:r>
              <a:rPr lang="en-A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</a:p>
          <a:p>
            <a:pPr marL="0" lvl="0" indent="0">
              <a:buNone/>
            </a:pPr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lang="en-AU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ylabel = predict(</a:t>
            </a:r>
            <a:r>
              <a:rPr lang="en-A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Mdl,x</a:t>
            </a: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(Regression )</a:t>
            </a:r>
            <a:endParaRPr lang="en-AU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  <a:p>
            <a:pPr marL="0" lv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y_predicted=predict(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endParaRPr lang="en-AU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3413" lvl="2" indent="0">
              <a:buNone/>
            </a:pP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09600" y="3505200"/>
            <a:ext cx="2971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09600" y="3505200"/>
            <a:ext cx="2743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267200" y="3505200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75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0" y="1022651"/>
            <a:ext cx="8089900" cy="4616149"/>
          </a:xfrm>
        </p:spPr>
        <p:txBody>
          <a:bodyPr/>
          <a:lstStyle/>
          <a:p>
            <a:pPr marL="0" lvl="0" indent="0">
              <a:buNone/>
            </a:pPr>
            <a:r>
              <a:rPr lang="en-A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fitcsvm additional options: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'Standardize': false | true        (Default: false)   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Standardize data </a:t>
            </a: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'Solver': 'ISDA' | 'L1QP' | 'SMO'   (Default: SMO)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Solver for objective functions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KernelFunction</a:t>
            </a: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'</a:t>
            </a: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or '</a:t>
            </a: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rbf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or Radial Basis Function (RBF) kernel</a:t>
            </a: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3850" lvl="1" indent="0">
              <a:buNone/>
            </a:pP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'linear'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kernel (default)</a:t>
            </a:r>
          </a:p>
          <a:p>
            <a:pPr marL="251025" lvl="0" indent="0" algn="just">
              <a:buNone/>
            </a:pP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'polynomial': Polynomial kernel   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Use '</a:t>
            </a:r>
            <a:r>
              <a:rPr lang="en-AU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PolynomialOrder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’, q, to specify a  polynomial kernel of order q.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PolynomialOrder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positive integer  (Default:3)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KernelScale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1 (default) | 'auto' | positive scalar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gamma in RBF kernel</a:t>
            </a: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BoxConstraint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positive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(Default:1)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% C ,the cost of misclassification</a:t>
            </a: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13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27038" y="152400"/>
            <a:ext cx="8229600" cy="467786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model: fitcsvm (cont.)</a:t>
            </a:r>
          </a:p>
        </p:txBody>
      </p:sp>
    </p:spTree>
    <p:extLst>
      <p:ext uri="{BB962C8B-B14F-4D97-AF65-F5344CB8AC3E}">
        <p14:creationId xmlns:p14="http://schemas.microsoft.com/office/powerpoint/2010/main" val="350085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77" y="93926"/>
            <a:ext cx="8229600" cy="467786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model: fitcsvm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04468"/>
            <a:ext cx="8229600" cy="5215332"/>
          </a:xfrm>
        </p:spPr>
        <p:txBody>
          <a:bodyPr/>
          <a:lstStyle/>
          <a:p>
            <a:r>
              <a:rPr lang="en-A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fitrsvm</a:t>
            </a:r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23850" lvl="1" indent="0">
              <a:spcBef>
                <a:spcPts val="1200"/>
              </a:spcBef>
              <a:buNone/>
            </a:pP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Mdl = </a:t>
            </a:r>
            <a:r>
              <a:rPr lang="en-A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fitrsvm</a:t>
            </a: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t)    %</a:t>
            </a: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trains a two-class (binary) classification .</a:t>
            </a:r>
            <a:endParaRPr lang="en-A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Mdl = 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fitrsvm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lvl="0"/>
            <a:r>
              <a:rPr lang="en-A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</a:p>
          <a:p>
            <a:pPr marL="0" lvl="0" indent="0">
              <a:buNone/>
            </a:pPr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lang="en-AU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 predict(</a:t>
            </a:r>
            <a:r>
              <a:rPr lang="en-A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Mdl,x</a:t>
            </a:r>
            <a:r>
              <a:rPr lang="en-A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(Regression )</a:t>
            </a:r>
            <a:endParaRPr lang="en-AU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y_predicted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=predict(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en-AU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3413" lvl="2" indent="0">
              <a:buNone/>
            </a:pP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14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09600" y="3505200"/>
            <a:ext cx="2971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09600" y="3505200"/>
            <a:ext cx="2743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267200" y="3505200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17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1080"/>
            <a:ext cx="8229600" cy="411162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Support vector regression (SVR): fitrsvm (</a:t>
            </a: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cont.)</a:t>
            </a:r>
            <a:br>
              <a:rPr lang="en-AU" sz="24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A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229600" cy="4572000"/>
          </a:xfrm>
        </p:spPr>
        <p:txBody>
          <a:bodyPr/>
          <a:lstStyle/>
          <a:p>
            <a:pPr marL="0" lvl="0" indent="0">
              <a:buNone/>
            </a:pPr>
            <a:r>
              <a:rPr lang="en-A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fitrsvm additional  options: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'Standardize': false | true        (</a:t>
            </a: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Default:false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'Solver': 'ISDA' | 'L1QP' | 'SMO'   (Default: SMO)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KernelFunction:</a:t>
            </a:r>
          </a:p>
          <a:p>
            <a:pPr lvl="1">
              <a:spcBef>
                <a:spcPts val="540"/>
              </a:spcBef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</a:t>
            </a: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or '</a:t>
            </a:r>
            <a:r>
              <a:rPr lang="en-A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rbf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or Radial Basis Function (RBF) kernel</a:t>
            </a: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'linear'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kernel (default)</a:t>
            </a:r>
          </a:p>
          <a:p>
            <a:pPr marL="486000" lvl="0" indent="-162000" algn="just">
              <a:spcBef>
                <a:spcPts val="540"/>
              </a:spcBef>
              <a:buFont typeface="Wingdings" panose="05000000000000000000" pitchFamily="2" charset="2"/>
              <a:buChar char="§"/>
            </a:pPr>
            <a:r>
              <a:rPr lang="en-AU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'polynomial': Polynomial kernel.   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Use '</a:t>
            </a:r>
            <a:r>
              <a:rPr lang="en-AU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PolynomialOrder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’, q, to specify a  polynomial kernel of order q.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BoxConstraint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positive scalar </a:t>
            </a:r>
            <a:r>
              <a:rPr lang="en-A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(Default:1)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% C the cost of wrong prediction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KernelScale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(default) | 'auto' | positive scalar </a:t>
            </a:r>
            <a:r>
              <a:rPr lang="en-A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gamma in RBF kernel</a:t>
            </a:r>
            <a:endParaRPr lang="en-A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805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18" y="48151"/>
            <a:ext cx="7450682" cy="437284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 (Linear kernel): fitrsvm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509401"/>
            <a:ext cx="8547100" cy="5815199"/>
          </a:xfrm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clear;</a:t>
            </a:r>
          </a:p>
          <a:p>
            <a:pPr marL="0" indent="0">
              <a:buNone/>
            </a:pP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rng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(1);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x = 0:0.01:5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t = sin(x)+rand(1, length(x))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x = x'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t = t'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Mdl = 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fitrsvm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x,t,</a:t>
            </a:r>
            <a:r>
              <a:rPr lang="en-AU" sz="2000" dirty="0" err="1">
                <a:solidFill>
                  <a:srgbClr val="A020F0"/>
                </a:solidFill>
                <a:latin typeface="Courier New" panose="02070309020205020404" pitchFamily="49" charset="0"/>
              </a:rPr>
              <a:t>'Standardize'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,true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y= predict(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AU" sz="2000" dirty="0">
                <a:solidFill>
                  <a:srgbClr val="228B22"/>
                </a:solidFill>
                <a:latin typeface="Courier New" panose="02070309020205020404" pitchFamily="49" charset="0"/>
              </a:rPr>
              <a:t>%y is the predicted output based on model Mdl and input x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scatter(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sz="2000" dirty="0">
                <a:solidFill>
                  <a:srgbClr val="228B22"/>
                </a:solidFill>
                <a:latin typeface="Courier New" panose="02070309020205020404" pitchFamily="49" charset="0"/>
              </a:rPr>
              <a:t>% Scatter plot 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en-AU" sz="2000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plot(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en-AU" sz="2000" dirty="0" err="1">
                <a:solidFill>
                  <a:srgbClr val="A020F0"/>
                </a:solidFill>
                <a:latin typeface="Courier New" panose="02070309020205020404" pitchFamily="49" charset="0"/>
              </a:rPr>
              <a:t>'r</a:t>
            </a:r>
            <a:r>
              <a:rPr lang="en-AU" sz="2000" dirty="0">
                <a:solidFill>
                  <a:srgbClr val="A020F0"/>
                </a:solidFill>
                <a:latin typeface="Courier New" panose="02070309020205020404" pitchFamily="49" charset="0"/>
              </a:rPr>
              <a:t>.'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16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485435"/>
            <a:ext cx="3962400" cy="29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8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96116"/>
            <a:ext cx="8382000" cy="437284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 (Gaussian kernel): fitrsvm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38404"/>
            <a:ext cx="8547100" cy="5285993"/>
          </a:xfrm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clear;clc;</a:t>
            </a:r>
          </a:p>
          <a:p>
            <a:pPr marL="0" lvl="0" indent="0">
              <a:buNone/>
            </a:pP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rng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(1);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x = 0:0.01:5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t = sin(x)+rand(1, length(x))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x = x'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t = t' ;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Mdl = fitrsvm(x,t,</a:t>
            </a:r>
            <a:r>
              <a:rPr lang="en-AU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'KernelFunction'</a:t>
            </a: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gaussian</a:t>
            </a:r>
            <a:r>
              <a:rPr lang="en-AU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sz="1600" dirty="0" err="1">
                <a:solidFill>
                  <a:srgbClr val="A020F0"/>
                </a:solidFill>
                <a:latin typeface="Courier New" panose="02070309020205020404" pitchFamily="49" charset="0"/>
              </a:rPr>
              <a:t>Standardize'</a:t>
            </a:r>
            <a:r>
              <a:rPr lang="en-AU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,true</a:t>
            </a: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y= predict(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AU" sz="2000" dirty="0">
                <a:solidFill>
                  <a:srgbClr val="228B22"/>
                </a:solidFill>
                <a:latin typeface="Courier New" panose="02070309020205020404" pitchFamily="49" charset="0"/>
              </a:rPr>
              <a:t>%y is the predicted output based on model Mdl and input x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scatter(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sz="2000" dirty="0">
                <a:solidFill>
                  <a:srgbClr val="228B22"/>
                </a:solidFill>
                <a:latin typeface="Courier New" panose="02070309020205020404" pitchFamily="49" charset="0"/>
              </a:rPr>
              <a:t>% Scatter plot 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en-AU" sz="2000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plot(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en-AU" sz="2000" dirty="0" err="1">
                <a:solidFill>
                  <a:srgbClr val="A020F0"/>
                </a:solidFill>
                <a:latin typeface="Courier New" panose="02070309020205020404" pitchFamily="49" charset="0"/>
              </a:rPr>
              <a:t>'r</a:t>
            </a:r>
            <a:r>
              <a:rPr lang="en-AU" sz="2000" dirty="0">
                <a:solidFill>
                  <a:srgbClr val="A020F0"/>
                </a:solidFill>
                <a:latin typeface="Courier New" panose="02070309020205020404" pitchFamily="49" charset="0"/>
              </a:rPr>
              <a:t>.'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University©2018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Aerospace, Mechanical and Manufacturing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49924"/>
            <a:ext cx="4057850" cy="282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07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18" y="96116"/>
            <a:ext cx="8047082" cy="437284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 (Polynomial kernel): fitrsvm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0223"/>
            <a:ext cx="8547100" cy="5634377"/>
          </a:xfrm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clear;clc;</a:t>
            </a:r>
          </a:p>
          <a:p>
            <a:pPr marL="0" lvl="0" indent="0">
              <a:buNone/>
            </a:pP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rng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(1);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x = 0:0.01:5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t = sin(x)+rand(1, length(x))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x = x' 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t = t' ;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Mdl = </a:t>
            </a:r>
            <a:r>
              <a:rPr lang="en-AU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fitrsvm</a:t>
            </a: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(x,t,</a:t>
            </a:r>
            <a:r>
              <a:rPr lang="en-AU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'KernelFunction'</a:t>
            </a: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'polynomial'</a:t>
            </a: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'polynomialorder'</a:t>
            </a: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AU" sz="1600" dirty="0">
                <a:solidFill>
                  <a:srgbClr val="A020F0"/>
                </a:solidFill>
                <a:latin typeface="Courier New" panose="02070309020205020404" pitchFamily="49" charset="0"/>
              </a:rPr>
              <a:t>'Standardize'</a:t>
            </a:r>
            <a:r>
              <a:rPr lang="en-AU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,true);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y= predict(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AU" sz="2000" dirty="0">
                <a:solidFill>
                  <a:srgbClr val="228B22"/>
                </a:solidFill>
                <a:latin typeface="Courier New" panose="02070309020205020404" pitchFamily="49" charset="0"/>
              </a:rPr>
              <a:t>%y is the predicted output based on model Mdl and input x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scatter(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sz="2000" dirty="0">
                <a:solidFill>
                  <a:srgbClr val="228B22"/>
                </a:solidFill>
                <a:latin typeface="Courier New" panose="02070309020205020404" pitchFamily="49" charset="0"/>
              </a:rPr>
              <a:t>% Scatter plot 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en-AU" sz="2000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                 </a:t>
            </a:r>
          </a:p>
          <a:p>
            <a:pPr marL="0" indent="0">
              <a:buNone/>
            </a:pP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plot(</a:t>
            </a:r>
            <a:r>
              <a:rPr lang="en-AU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x,y,</a:t>
            </a:r>
            <a:r>
              <a:rPr lang="en-AU" sz="2000" dirty="0" err="1">
                <a:solidFill>
                  <a:srgbClr val="A020F0"/>
                </a:solidFill>
                <a:latin typeface="Courier New" panose="02070309020205020404" pitchFamily="49" charset="0"/>
              </a:rPr>
              <a:t>'r</a:t>
            </a:r>
            <a:r>
              <a:rPr lang="en-AU" sz="2000" dirty="0">
                <a:solidFill>
                  <a:srgbClr val="A020F0"/>
                </a:solidFill>
                <a:latin typeface="Courier New" panose="02070309020205020404" pitchFamily="49" charset="0"/>
              </a:rPr>
              <a:t>.'</a:t>
            </a:r>
            <a:r>
              <a:rPr lang="en-AU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18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603" y="372723"/>
            <a:ext cx="3997397" cy="300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64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29992"/>
            <a:ext cx="8229600" cy="5542208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clear 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load 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ionosphere.mat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rng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(1); 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random number generation to reproduce results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mdl = 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fitcsvm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(X,Y,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KernelFunction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gaussian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KernelScale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'auto'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BoxConstraint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1, 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'Solver'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'L1QP'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'Standardize'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true);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use 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fitcsvm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with 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gaussian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kernel and solver L1QP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y_expected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=predict(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table( Y( 20:30 ),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y_expected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( 20:30 ),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VariableNames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   {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 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TrueLabel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 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PredictedLabel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})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%Show the results of 20th to 30th data of the output and predicted output.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1181" y="113126"/>
            <a:ext cx="46538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classication-1: fitcsvm</a:t>
            </a:r>
            <a:endParaRPr lang="en-AU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329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20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776537" y="152400"/>
            <a:ext cx="4233863" cy="616585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12×2 table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TrueLabel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A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PredictedLabel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_________    ______________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'b'              'b'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'g'              'g'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'b'              'g'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'g'              'g'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'b'              'b'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'g'              'g'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'b'              'b'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'g'              'g'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'b'              'b'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'g'              'g'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'b'              'b'          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'g'              'g' </a:t>
            </a:r>
          </a:p>
        </p:txBody>
      </p:sp>
    </p:spTree>
    <p:extLst>
      <p:ext uri="{BB962C8B-B14F-4D97-AF65-F5344CB8AC3E}">
        <p14:creationId xmlns:p14="http://schemas.microsoft.com/office/powerpoint/2010/main" val="3368192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68375"/>
            <a:ext cx="8229600" cy="4899025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clear;clc;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rng(1);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Filename=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'SVR1.xlsx'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Sheetread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'x'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'A1:M252'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Sheetread1=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't'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output1=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'A1:A252'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(Filename,Sheetread,Input1);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%Read Microsoft Excel 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Target=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(Filename,Sheetread1,output1 );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x=Input;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t=Target;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21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52400"/>
            <a:ext cx="7118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regression-1: fitrsvm</a:t>
            </a:r>
            <a:endParaRPr lang="en-A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988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3200"/>
            <a:ext cx="8229600" cy="612775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regression-1: fitrsvm </a:t>
            </a: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(cont.)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495800"/>
          </a:xfrm>
        </p:spPr>
        <p:txBody>
          <a:bodyPr/>
          <a:lstStyle/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mdl = 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fitrsvm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KernelFunction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'polynomial'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'polynomialorder'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,2,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'Standardize'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true);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%To standardize the data and use polynomial function as the kernel with order 2.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=predict(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prediction based on the developed SVR model and x as the input. </a:t>
            </a:r>
          </a:p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table(t(40:50,:),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(40:50,:),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VariableNames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,{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ObservedValue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 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PredictedValue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})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show 40th to 50th data in output and predicted output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MSE_training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-t).^2)/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(t);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MSE for training data 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RMSE_training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sqrt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-t).^2)/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(t));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RMSE for training data </a:t>
            </a:r>
          </a:p>
          <a:p>
            <a:pPr lvl="0"/>
            <a:endParaRPr lang="en-AU" dirty="0">
              <a:solidFill>
                <a:srgbClr val="000000"/>
              </a:solidFill>
            </a:endParaRPr>
          </a:p>
          <a:p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22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813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2238"/>
            <a:ext cx="8229600" cy="563562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regression-1: fitrsvm (cont.)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23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0000" y="5760000"/>
            <a:ext cx="2526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 training = 3.4638</a:t>
            </a:r>
            <a:r>
              <a:rPr lang="en-AU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5220000"/>
            <a:ext cx="273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 training   = 11.9979</a:t>
            </a:r>
            <a:r>
              <a:rPr lang="en-AU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856468"/>
            <a:ext cx="4953000" cy="405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62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15975"/>
            <a:ext cx="8229600" cy="5203825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clear;clc;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rng(1);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Filename=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'SVR2.xlsx'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Sheetread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'x'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'A1:A94'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Sheetread1=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't'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output1=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'A1:A94'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(Filename,Sheetread,Input1);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%Read Microsoft Excel 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Target=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(Filename,Sheetread1,output1 );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x=Input;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t=Target;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24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52400"/>
            <a:ext cx="7118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regression-2: fitrsvm </a:t>
            </a:r>
            <a:endParaRPr lang="en-A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409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12775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regression-2: fitrsvm </a:t>
            </a: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(cont.)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53340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mdl = 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fitrsvm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KernelFunction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gaussian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    'Solver'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'L1QP'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'Standardize'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true);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%standardize the data and use Gaussian kernel. 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=predict(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prediction based on the developed SVR model and x as the input 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table(t(20:30,:),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(20:30,:),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VariableNames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,{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ObservedValue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 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PredictedValue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})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show 20th to 30th data in output and predicted output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MSE_training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-t).^2)/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(t);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MSE for data ;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:number of elements 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RMSE_training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sqrt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-t).^2)/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(t));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RMSE for data ;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:number of elements </a:t>
            </a:r>
          </a:p>
          <a:p>
            <a:pPr lvl="0"/>
            <a:endParaRPr lang="en-AU" dirty="0">
              <a:solidFill>
                <a:srgbClr val="000000"/>
              </a:solidFill>
            </a:endParaRPr>
          </a:p>
          <a:p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25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697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6038"/>
            <a:ext cx="8229600" cy="563562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regression-2: fitrsvm (cont.)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26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0000" y="5760000"/>
            <a:ext cx="2679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RMSE_training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0.8051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0000" y="5220000"/>
            <a:ext cx="2527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MSE_training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= 0.6481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798513"/>
            <a:ext cx="5562599" cy="426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4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634" y="78414"/>
            <a:ext cx="8229600" cy="497658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regression-3: fitrsvm</a:t>
            </a:r>
            <a:br>
              <a:rPr lang="en-AU" sz="1000" kern="1200" dirty="0">
                <a:solidFill>
                  <a:srgbClr val="FFFFFF"/>
                </a:solidFill>
                <a:latin typeface="Arial" charset="0"/>
                <a:cs typeface="Arial" charset="0"/>
              </a:rPr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634" y="772296"/>
            <a:ext cx="8229600" cy="5628504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clear;clc;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rng(1);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Filename=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'SVR3.xlsx'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Sheetread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'Sheet1'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'A1:B89'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output1=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'C1:C89'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(Filename,Sheetread,Input1);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%Read Microsoft Excel 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Target=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(Filename,Sheetread,output1 );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Sheetread1=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'Sheet2'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Input2=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'A1:B11'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Target2 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'C1:C11'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Inputnew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(Filename,Sheetread1,Input2);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(Filename,Sheetread1,Target2 );</a:t>
            </a:r>
          </a:p>
          <a:p>
            <a:pPr marL="0" indent="0">
              <a:buNone/>
            </a:pPr>
            <a:endParaRPr lang="en-AU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27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29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563562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regression-3: fitrsvm (cont.)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2"/>
            <a:ext cx="8229600" cy="5181598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x=Input;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t=Target;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Inputnew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x=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fillmissing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x,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'spline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%fill in the missing input data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t= 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fillmissing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t,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'spline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%fill in the missing output data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mdl=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fitrsvm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(x,t,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'Standardize'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,true,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'KernelFunction'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'gaussian'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'epsilon'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,0.3);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%standardize the data and use 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gaussian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kernel to 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develope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and model the data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=predict(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prediction based on the developed SVR model and x as the input 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MSE_training=sum((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-t).^2)/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(t);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MSE for data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28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579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2"/>
          </a:xfrm>
        </p:spPr>
        <p:txBody>
          <a:bodyPr/>
          <a:lstStyle/>
          <a:p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regression-3: fitrsvm (cont.)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634" y="1288279"/>
            <a:ext cx="8229600" cy="3588521"/>
          </a:xfrm>
        </p:spPr>
        <p:txBody>
          <a:bodyPr/>
          <a:lstStyle/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RMSE_Training=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sqrt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-t).^2)/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RMSE for training data </a:t>
            </a:r>
          </a:p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table(t(60:70,:),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(60:70,:),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VariableNames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,{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ObservedValue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 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PredictedValue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})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show 60th to 70th data in output and predicted output </a:t>
            </a:r>
          </a:p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ynew=predict(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prediction based on new data 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MSE_testing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ynew-tnew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MSE for new data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RMSE_Testing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sqrt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(sum((ynew-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(ynew));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RMSE for new data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29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709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6038"/>
            <a:ext cx="8229600" cy="563562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regression-3: fitrsvm (cont.)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University©2018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Aerospace, Mechanical and Manufacturing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30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235238"/>
            <a:ext cx="5029199" cy="37718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715181" y="768882"/>
            <a:ext cx="3157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kernel (linear kernel)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5328000"/>
            <a:ext cx="273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RMSE_training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3.5404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0000" y="5794356"/>
            <a:ext cx="2584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RMSE_testing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= 7.7213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374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6038"/>
            <a:ext cx="8229600" cy="563562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regression-3: fitrsvm (cont.)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31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0000" y="5741010"/>
            <a:ext cx="26950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RMSE_testing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= 7.5712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0000" y="5220000"/>
            <a:ext cx="373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RMSE_training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2.8585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065158"/>
            <a:ext cx="4953000" cy="38901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84539" y="643846"/>
            <a:ext cx="3174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kernel (Gaussian kernel)</a:t>
            </a:r>
          </a:p>
        </p:txBody>
      </p:sp>
    </p:spTree>
    <p:extLst>
      <p:ext uri="{BB962C8B-B14F-4D97-AF65-F5344CB8AC3E}">
        <p14:creationId xmlns:p14="http://schemas.microsoft.com/office/powerpoint/2010/main" val="2075455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39775"/>
            <a:ext cx="8229600" cy="5661025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clear;clc;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rng(1);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Filename=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'SVR4.xlsx'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Sheetread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'Sheet1'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'A1:H72'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output1=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'I1:I72'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(Filename,Sheetread,Input1);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%Read Microsoft Excel 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Target=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(Filename,Sheetread,output1 );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x=Input;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t=Target;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Sheetread1=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'Sheet2'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Input2=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'A1:H3'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Target2 =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'I1:I3'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32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52400"/>
            <a:ext cx="7118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regression-4: </a:t>
            </a:r>
            <a:r>
              <a:rPr lang="en-AU" sz="2400" b="1" kern="0" dirty="0" err="1">
                <a:solidFill>
                  <a:srgbClr val="EE32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fitrsvm</a:t>
            </a:r>
            <a:endParaRPr lang="en-A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33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12775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regression-4: </a:t>
            </a:r>
            <a:r>
              <a:rPr lang="en-AU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fitrsvm</a:t>
            </a:r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(cont.)</a:t>
            </a:r>
            <a:br>
              <a:rPr lang="en-AU" sz="1000" kern="1200" dirty="0">
                <a:solidFill>
                  <a:srgbClr val="FFFFFF"/>
                </a:solidFill>
                <a:latin typeface="Arial" charset="0"/>
                <a:ea typeface="+mn-ea"/>
                <a:cs typeface="Arial" charset="0"/>
              </a:rPr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255" y="762000"/>
            <a:ext cx="8229600" cy="5486400"/>
          </a:xfrm>
        </p:spPr>
        <p:txBody>
          <a:bodyPr/>
          <a:lstStyle/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Inputnew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(Filename,Sheetread1,Input2);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xlsread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(Filename,Sheetread1,Target2 );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Inputnew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mdl = 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fitrsvm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x,t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KernelFunction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gaussian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AU" dirty="0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    'Standardize'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 true);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%standardize the data  %standardize the data and use 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gaussian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kernel to 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develope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and model the data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conv = 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mdl.ConvergenceInfo.Converged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Shows whether the program reach an answer</a:t>
            </a:r>
          </a:p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iter = 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mdl.NumIterations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number of iteration to reach the answer</a:t>
            </a:r>
          </a:p>
          <a:p>
            <a:pPr mar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=predict(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prediction based on the developed SVR model and x as the input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33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142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12775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regression-4: </a:t>
            </a:r>
            <a:r>
              <a:rPr lang="en-AU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fitrsvm</a:t>
            </a:r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A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(cont.)</a:t>
            </a:r>
            <a:br>
              <a:rPr lang="en-AU" sz="1000" kern="1200" dirty="0">
                <a:solidFill>
                  <a:srgbClr val="FFFFFF"/>
                </a:solidFill>
                <a:latin typeface="Arial" charset="0"/>
                <a:cs typeface="Arial" charset="0"/>
              </a:rPr>
            </a:br>
            <a:br>
              <a:rPr lang="en-AU" sz="1000" kern="1200" dirty="0">
                <a:solidFill>
                  <a:srgbClr val="FFFFFF"/>
                </a:solidFill>
                <a:latin typeface="Arial" charset="0"/>
                <a:ea typeface="+mn-ea"/>
                <a:cs typeface="Arial" charset="0"/>
              </a:rPr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038" y="762000"/>
            <a:ext cx="8229600" cy="5715000"/>
          </a:xfrm>
        </p:spPr>
        <p:txBody>
          <a:bodyPr/>
          <a:lstStyle/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table(t(20:30,:),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(20:30,:),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VariableNames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,{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ObservedValue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 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PredictedValue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})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show 20th to 30th data in output and predicted output</a:t>
            </a:r>
          </a:p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MSE_training=sum((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-t).^2)/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(t);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MSE for data 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RMSE_training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sqrt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yfit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-t).^2)/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(t));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RMSE for data 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ynew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=predict(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mdl,xnew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marL="0" lvl="0" indent="0">
              <a:buNone/>
            </a:pP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table(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(:),ynew(:),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VariableNames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,{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ObservedValue_Newdata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 </a:t>
            </a:r>
            <a:r>
              <a:rPr lang="en-AU" dirty="0" err="1">
                <a:solidFill>
                  <a:srgbClr val="A020F0"/>
                </a:solidFill>
                <a:latin typeface="Courier New" panose="02070309020205020404" pitchFamily="49" charset="0"/>
              </a:rPr>
              <a:t>PredictedValue_newdata</a:t>
            </a:r>
            <a:r>
              <a:rPr lang="en-AU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})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show data in output and predicted output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MSE_testing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-ynew).^2)/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MSE for new data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RMSE_testing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sqrt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(sum((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-ynew).^2)/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numel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% Calculate RMSE for new data</a:t>
            </a:r>
          </a:p>
          <a:p>
            <a:pPr marL="0" lvl="0" indent="0">
              <a:buNone/>
            </a:pP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Errorpercentage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=((ynew-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)./</a:t>
            </a:r>
            <a:r>
              <a:rPr lang="en-AU" dirty="0" err="1">
                <a:solidFill>
                  <a:srgbClr val="000000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000000"/>
                </a:solidFill>
                <a:latin typeface="Courier New" panose="02070309020205020404" pitchFamily="49" charset="0"/>
              </a:rPr>
              <a:t>)*100; 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% Calculate error percentage for </a:t>
            </a:r>
            <a:r>
              <a:rPr lang="en-AU" dirty="0" err="1">
                <a:solidFill>
                  <a:srgbClr val="228B22"/>
                </a:solidFill>
                <a:latin typeface="Courier New" panose="02070309020205020404" pitchFamily="49" charset="0"/>
              </a:rPr>
              <a:t>tnew</a:t>
            </a:r>
            <a:r>
              <a:rPr lang="en-AU" dirty="0">
                <a:solidFill>
                  <a:srgbClr val="228B22"/>
                </a:solidFill>
                <a:latin typeface="Courier New" panose="02070309020205020404" pitchFamily="49" charset="0"/>
              </a:rPr>
              <a:t> and ynew </a:t>
            </a:r>
          </a:p>
          <a:p>
            <a:pPr marL="0" indent="0">
              <a:buNone/>
            </a:pPr>
            <a:endParaRPr lang="en-AU" dirty="0"/>
          </a:p>
          <a:p>
            <a:pPr marL="0" lvl="0" indent="0">
              <a:buNone/>
            </a:pPr>
            <a:endParaRPr lang="en-AU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34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5859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1"/>
            <a:ext cx="8534400" cy="364224"/>
          </a:xfrm>
        </p:spPr>
        <p:txBody>
          <a:bodyPr/>
          <a:lstStyle/>
          <a:p>
            <a:pPr marL="0" lvl="0" indent="0" eaLnBrk="1" fontAlgn="b" hangingPunct="1">
              <a:spcBef>
                <a:spcPct val="0"/>
              </a:spcBef>
              <a:buClrTx/>
              <a:buNone/>
            </a:pPr>
            <a:r>
              <a:rPr lang="en-AU" sz="14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kernel (linear kernel)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35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4000" y="5580000"/>
            <a:ext cx="242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MSE_training</a:t>
            </a:r>
            <a:r>
              <a:rPr lang="en-A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3.8295</a:t>
            </a:r>
          </a:p>
        </p:txBody>
      </p:sp>
      <p:sp>
        <p:nvSpPr>
          <p:cNvPr id="13" name="Rectangle 12"/>
          <p:cNvSpPr/>
          <p:nvPr/>
        </p:nvSpPr>
        <p:spPr>
          <a:xfrm rot="10800000" flipV="1">
            <a:off x="862071" y="5976000"/>
            <a:ext cx="2414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MSE_testing</a:t>
            </a:r>
            <a:r>
              <a:rPr lang="en-A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= 0.4576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200400"/>
            <a:ext cx="2601958" cy="20585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95" y="1213323"/>
            <a:ext cx="4206605" cy="37371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619796" y="5580000"/>
            <a:ext cx="277336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50000"/>
              </a:spcBef>
              <a:buClr>
                <a:srgbClr val="887E6E"/>
              </a:buClr>
            </a:pPr>
            <a:r>
              <a:rPr lang="en-AU" sz="18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RMSE_training</a:t>
            </a:r>
            <a:r>
              <a:rPr lang="en-AU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1.9569</a:t>
            </a:r>
          </a:p>
          <a:p>
            <a:pPr lvl="0" eaLnBrk="0" fontAlgn="base" hangingPunct="0">
              <a:spcBef>
                <a:spcPct val="50000"/>
              </a:spcBef>
              <a:buClr>
                <a:srgbClr val="887E6E"/>
              </a:buClr>
            </a:pPr>
            <a:r>
              <a:rPr lang="en-AU" sz="18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RMSE_testing</a:t>
            </a:r>
            <a:r>
              <a:rPr lang="en-AU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= 0.6765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118" y="76968"/>
            <a:ext cx="624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 of regression-4: </a:t>
            </a:r>
            <a:r>
              <a:rPr lang="en-AU" sz="2400" b="1" kern="0" dirty="0" err="1">
                <a:solidFill>
                  <a:srgbClr val="EE322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fitrsvm</a:t>
            </a:r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(cont.)</a:t>
            </a:r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859666"/>
            <a:ext cx="4724400" cy="218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68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6038"/>
            <a:ext cx="5638800" cy="563562"/>
          </a:xfrm>
        </p:spPr>
        <p:txBody>
          <a:bodyPr/>
          <a:lstStyle/>
          <a:p>
            <a:pPr lvl="0" eaLnBrk="1" fontAlgn="b" hangingPunct="1"/>
            <a:r>
              <a:rPr lang="en-AU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of regression-4: fitrsvm (cont.)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36</a:t>
            </a:fld>
            <a:endParaRPr lang="en-AU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12000" y="5868000"/>
            <a:ext cx="23727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MSE_testing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=4.4638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12000" y="5364000"/>
            <a:ext cx="2315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MSE_training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=2.1296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24000" y="5364000"/>
            <a:ext cx="26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RMSE_training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1.4593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24000" y="5868000"/>
            <a:ext cx="26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RMSE_testing</a:t>
            </a:r>
            <a:r>
              <a:rPr lang="en-A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= 2.1128</a:t>
            </a:r>
            <a:endParaRPr lang="en-AU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5141" y="606623"/>
            <a:ext cx="22459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AU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kernel (linear kernel)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92257"/>
            <a:ext cx="4614863" cy="389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52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37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6444" y="71735"/>
            <a:ext cx="624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 of regression-4: </a:t>
            </a:r>
            <a:r>
              <a:rPr lang="en-AU" sz="2400" b="1" kern="0" dirty="0" err="1">
                <a:solidFill>
                  <a:srgbClr val="EE322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fitrsvm</a:t>
            </a:r>
            <a:r>
              <a:rPr lang="en-AU" sz="2400" b="1" kern="0" dirty="0">
                <a:solidFill>
                  <a:srgbClr val="EE3224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(cont.)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4911" y="767221"/>
            <a:ext cx="5791200" cy="2895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0" y="3896642"/>
            <a:ext cx="4127500" cy="24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9300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9"/>
            <a:ext cx="3581400" cy="487362"/>
          </a:xfrm>
        </p:spPr>
        <p:txBody>
          <a:bodyPr/>
          <a:lstStyle/>
          <a:p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458200" cy="47958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00662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https://au.mathworks.com</a:t>
            </a:r>
            <a:endParaRPr lang="en-AU" sz="2800" dirty="0">
              <a:solidFill>
                <a:srgbClr val="0066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</a:t>
            </a:r>
            <a:r>
              <a:rPr lang="en-A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Araghinejad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Data-Driven </a:t>
            </a:r>
            <a:r>
              <a:rPr lang="en-A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Using MATLAB® in Environmental Engineering</a:t>
            </a:r>
          </a:p>
          <a:p>
            <a:pPr>
              <a:lnSpc>
                <a:spcPct val="150000"/>
              </a:lnSpc>
            </a:pP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http://www.saedsayad.com/support_vector_machine_reg.htm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https://digitaltransformationpro.com/data-mining-steps/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AU">
                <a:latin typeface="Times New Roman" panose="02020603050405020304" pitchFamily="18" charset="0"/>
                <a:cs typeface="Times New Roman" panose="02020603050405020304" pitchFamily="18" charset="0"/>
              </a:rPr>
              <a:t>RMIT University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FF66D-77F0-482A-A838-7B366726A3CF}" type="slidenum">
              <a:rPr lang="en-A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38</a:t>
            </a:fld>
            <a:endParaRPr lang="en-A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1297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-2">
  <a:themeElements>
    <a:clrScheme name="Presentation-2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EBDB0"/>
      </a:accent1>
      <a:accent2>
        <a:srgbClr val="EE3224"/>
      </a:accent2>
      <a:accent3>
        <a:srgbClr val="FFFFFF"/>
      </a:accent3>
      <a:accent4>
        <a:srgbClr val="000000"/>
      </a:accent4>
      <a:accent5>
        <a:srgbClr val="DBDBD4"/>
      </a:accent5>
      <a:accent6>
        <a:srgbClr val="D82C20"/>
      </a:accent6>
      <a:hlink>
        <a:srgbClr val="000000"/>
      </a:hlink>
      <a:folHlink>
        <a:srgbClr val="FFEE00"/>
      </a:folHlink>
    </a:clrScheme>
    <a:fontScheme name="Presentation-2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resentation-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-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-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-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-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-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-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-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-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-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-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-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-2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EBDB0"/>
        </a:accent1>
        <a:accent2>
          <a:srgbClr val="EE3224"/>
        </a:accent2>
        <a:accent3>
          <a:srgbClr val="FFFFFF"/>
        </a:accent3>
        <a:accent4>
          <a:srgbClr val="000000"/>
        </a:accent4>
        <a:accent5>
          <a:srgbClr val="DBDBD4"/>
        </a:accent5>
        <a:accent6>
          <a:srgbClr val="D82C20"/>
        </a:accent6>
        <a:hlink>
          <a:srgbClr val="000000"/>
        </a:hlink>
        <a:folHlink>
          <a:srgbClr val="FFE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</Template>
  <TotalTime>26871</TotalTime>
  <Words>2757</Words>
  <Application>Microsoft Office PowerPoint</Application>
  <PresentationFormat>On-screen Show (4:3)</PresentationFormat>
  <Paragraphs>405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Cambria Math</vt:lpstr>
      <vt:lpstr>Courier New</vt:lpstr>
      <vt:lpstr>Times New Roman</vt:lpstr>
      <vt:lpstr>Wingdings</vt:lpstr>
      <vt:lpstr>Presentation-2</vt:lpstr>
      <vt:lpstr>Machine Learning Practical -2  Support Vector Machine  (SVM)  </vt:lpstr>
      <vt:lpstr>The aim of Machine learning methods (recap )</vt:lpstr>
      <vt:lpstr>Support vector Machine (SVM) (Recap)</vt:lpstr>
      <vt:lpstr>Steps of An Application of SVM (Recap)</vt:lpstr>
      <vt:lpstr>Support vector Machine (SVM) (Recap)</vt:lpstr>
      <vt:lpstr>Support vector Machine (SVM) (Recap)</vt:lpstr>
      <vt:lpstr>PowerPoint Presentation</vt:lpstr>
      <vt:lpstr>Support Vector Machine - Regression (SVR)</vt:lpstr>
      <vt:lpstr>PowerPoint Presentation</vt:lpstr>
      <vt:lpstr>PowerPoint Presentation</vt:lpstr>
      <vt:lpstr>PowerPoint Presentation</vt:lpstr>
      <vt:lpstr>Support vector machine model: fitcsvm</vt:lpstr>
      <vt:lpstr>Support vector machine model: fitcsvm (cont.)</vt:lpstr>
      <vt:lpstr>Support vector machine model: fitcsvm</vt:lpstr>
      <vt:lpstr>Support vector regression (SVR): fitrsvm (cont.) </vt:lpstr>
      <vt:lpstr>Example of regression (Linear kernel): fitrsvm</vt:lpstr>
      <vt:lpstr>Example of regression (Gaussian kernel): fitrsvm</vt:lpstr>
      <vt:lpstr>Example of regression (Polynomial kernel): fitrsvm</vt:lpstr>
      <vt:lpstr>PowerPoint Presentation</vt:lpstr>
      <vt:lpstr>PowerPoint Presentation</vt:lpstr>
      <vt:lpstr>PowerPoint Presentation</vt:lpstr>
      <vt:lpstr>Example of regression-1: fitrsvm (cont.)</vt:lpstr>
      <vt:lpstr>Example of regression-1: fitrsvm (cont.)</vt:lpstr>
      <vt:lpstr>PowerPoint Presentation</vt:lpstr>
      <vt:lpstr>Example of regression-2: fitrsvm (cont.)</vt:lpstr>
      <vt:lpstr>Example of regression-2: fitrsvm (cont.)</vt:lpstr>
      <vt:lpstr>Example of regression-3: fitrsvm </vt:lpstr>
      <vt:lpstr>Example of regression-3: fitrsvm (cont.)</vt:lpstr>
      <vt:lpstr>Example of regression-3: fitrsvm (cont.)</vt:lpstr>
      <vt:lpstr>Example of regression-3: fitrsvm (cont.)</vt:lpstr>
      <vt:lpstr>Example of regression-3: fitrsvm (cont.)</vt:lpstr>
      <vt:lpstr>PowerPoint Presentation</vt:lpstr>
      <vt:lpstr>Example of regression-4: fitrsvm (cont.) </vt:lpstr>
      <vt:lpstr>Example of regression-4: fitrsvm (cont.)  </vt:lpstr>
      <vt:lpstr>PowerPoint Presentation</vt:lpstr>
      <vt:lpstr>Example of regression-4: fitrsvm (cont.)</vt:lpstr>
      <vt:lpstr>PowerPoint Presentation</vt:lpstr>
      <vt:lpstr>SVM References</vt:lpstr>
    </vt:vector>
  </TitlesOfParts>
  <Company>RMIT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Amanda McBurney</dc:creator>
  <cp:lastModifiedBy>Hamid Khayyam</cp:lastModifiedBy>
  <cp:revision>1693</cp:revision>
  <dcterms:created xsi:type="dcterms:W3CDTF">2008-10-15T00:52:08Z</dcterms:created>
  <dcterms:modified xsi:type="dcterms:W3CDTF">2020-05-13T07:57:40Z</dcterms:modified>
</cp:coreProperties>
</file>